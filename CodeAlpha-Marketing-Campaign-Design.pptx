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8" r:id="rId2"/>
    <p:sldId id="259" r:id="rId3"/>
    <p:sldId id="260" r:id="rId4"/>
    <p:sldId id="261" r:id="rId5"/>
    <p:sldId id="262" r:id="rId6"/>
    <p:sldId id="263" r:id="rId7"/>
    <p:sldId id="264" r:id="rId8"/>
    <p:sldId id="265" r:id="rId9"/>
    <p:sldId id="266"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50" d="100"/>
          <a:sy n="50" d="100"/>
        </p:scale>
        <p:origin x="1740" y="3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r>
              <a:rPr lang="en-US" sz="2200" b="1" i="0" u="none" strike="noStrike" baseline="0" dirty="0" smtClean="0"/>
              <a:t>Target Audience Segmentation by Age Group</a:t>
            </a:r>
            <a:endParaRPr lang="en-US" dirty="0"/>
          </a:p>
        </c:rich>
      </c:tx>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manualLayout>
          <c:layoutTarget val="inner"/>
          <c:xMode val="edge"/>
          <c:yMode val="edge"/>
          <c:x val="2.732919254658385E-2"/>
          <c:y val="0.21654374347462624"/>
          <c:w val="0.80777874504817337"/>
          <c:h val="0.7054644255116892"/>
        </c:manualLayout>
      </c:layout>
      <c:pieChart>
        <c:varyColors val="1"/>
        <c:ser>
          <c:idx val="0"/>
          <c:order val="0"/>
          <c:tx>
            <c:strRef>
              <c:f>Sheet1!$B$1</c:f>
              <c:strCache>
                <c:ptCount val="1"/>
                <c:pt idx="0">
                  <c:v>Percentage</c:v>
                </c:pt>
              </c:strCache>
            </c:strRef>
          </c:tx>
          <c:dPt>
            <c:idx val="0"/>
            <c:bubble3D val="0"/>
            <c:spPr>
              <a:solidFill>
                <a:schemeClr val="accent1"/>
              </a:solidFill>
              <a:ln>
                <a:noFill/>
              </a:ln>
              <a:effectLst>
                <a:outerShdw blurRad="254000" sx="102000" sy="102000" algn="ctr" rotWithShape="0">
                  <a:prstClr val="black">
                    <a:alpha val="20000"/>
                  </a:prstClr>
                </a:outerShdw>
              </a:effectLst>
            </c:spPr>
          </c:dPt>
          <c:dPt>
            <c:idx val="1"/>
            <c:bubble3D val="0"/>
            <c:spPr>
              <a:solidFill>
                <a:schemeClr val="accent2"/>
              </a:solidFill>
              <a:ln>
                <a:noFill/>
              </a:ln>
              <a:effectLst>
                <a:outerShdw blurRad="254000" sx="102000" sy="102000" algn="ctr" rotWithShape="0">
                  <a:prstClr val="black">
                    <a:alpha val="20000"/>
                  </a:prstClr>
                </a:outerShdw>
              </a:effectLst>
            </c:spPr>
          </c:dPt>
          <c:dPt>
            <c:idx val="2"/>
            <c:bubble3D val="0"/>
            <c:spPr>
              <a:solidFill>
                <a:schemeClr val="accent3"/>
              </a:solidFill>
              <a:ln>
                <a:noFill/>
              </a:ln>
              <a:effectLst>
                <a:outerShdw blurRad="254000" sx="102000" sy="102000" algn="ctr" rotWithShape="0">
                  <a:prstClr val="black">
                    <a:alpha val="20000"/>
                  </a:prstClr>
                </a:outerShdw>
              </a:effectLst>
            </c:spPr>
          </c:dPt>
          <c:dPt>
            <c:idx val="3"/>
            <c:bubble3D val="0"/>
            <c:spPr>
              <a:solidFill>
                <a:schemeClr val="accent4"/>
              </a:solidFill>
              <a:ln>
                <a:noFill/>
              </a:ln>
              <a:effectLst>
                <a:outerShdw blurRad="254000" sx="102000" sy="102000" algn="ctr" rotWithShape="0">
                  <a:prstClr val="black">
                    <a:alpha val="20000"/>
                  </a:prstClr>
                </a:outerShdw>
              </a:effectLst>
            </c:spPr>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15:layout/>
              </c:ext>
            </c:extLst>
          </c:dLbls>
          <c:cat>
            <c:strRef>
              <c:f>Sheet1!$A$2:$A$5</c:f>
              <c:strCache>
                <c:ptCount val="4"/>
                <c:pt idx="0">
                  <c:v>18–22</c:v>
                </c:pt>
                <c:pt idx="1">
                  <c:v>23–27</c:v>
                </c:pt>
                <c:pt idx="2">
                  <c:v>28–32</c:v>
                </c:pt>
                <c:pt idx="3">
                  <c:v>33–35</c:v>
                </c:pt>
              </c:strCache>
            </c:strRef>
          </c:cat>
          <c:val>
            <c:numRef>
              <c:f>Sheet1!$B$2:$B$5</c:f>
              <c:numCache>
                <c:formatCode>0%</c:formatCode>
                <c:ptCount val="4"/>
                <c:pt idx="0">
                  <c:v>0.24</c:v>
                </c:pt>
                <c:pt idx="1">
                  <c:v>0.36</c:v>
                </c:pt>
                <c:pt idx="2">
                  <c:v>0.22</c:v>
                </c:pt>
                <c:pt idx="3">
                  <c:v>0.18</c:v>
                </c:pt>
              </c:numCache>
            </c:numRef>
          </c:val>
          <c:extLst>
            <c:ext xmlns:c16="http://schemas.microsoft.com/office/drawing/2014/chart" uri="{C3380CC4-5D6E-409C-BE32-E72D297353CC}">
              <c16:uniqueId val="{00000000-C7FE-4BBC-B7AA-30FE75809DF4}"/>
            </c:ext>
          </c:extLst>
        </c:ser>
        <c:dLbls>
          <c:dLblPos val="ctr"/>
          <c:showLegendKey val="0"/>
          <c:showVal val="0"/>
          <c:showCatName val="0"/>
          <c:showSerName val="0"/>
          <c:showPercent val="1"/>
          <c:showBubbleSize val="0"/>
          <c:showLeaderLines val="1"/>
        </c:dLbls>
        <c:firstSliceAng val="0"/>
      </c:pieChart>
      <c:spPr>
        <a:noFill/>
        <a:ln>
          <a:noFill/>
        </a:ln>
        <a:effectLst/>
      </c:spPr>
    </c:plotArea>
    <c:legend>
      <c:legendPos val="r"/>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Usage (%)</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Sheet1!$A$2:$A$5</c:f>
              <c:strCache>
                <c:ptCount val="4"/>
                <c:pt idx="0">
                  <c:v>Instagram</c:v>
                </c:pt>
                <c:pt idx="1">
                  <c:v>YouTube</c:v>
                </c:pt>
                <c:pt idx="2">
                  <c:v>TikTok / Reels</c:v>
                </c:pt>
                <c:pt idx="3">
                  <c:v>Facebook</c:v>
                </c:pt>
              </c:strCache>
            </c:strRef>
          </c:cat>
          <c:val>
            <c:numRef>
              <c:f>Sheet1!$B$2:$B$5</c:f>
              <c:numCache>
                <c:formatCode>0%</c:formatCode>
                <c:ptCount val="4"/>
                <c:pt idx="0">
                  <c:v>0.78</c:v>
                </c:pt>
                <c:pt idx="1">
                  <c:v>0.72</c:v>
                </c:pt>
                <c:pt idx="2">
                  <c:v>0.65</c:v>
                </c:pt>
                <c:pt idx="3">
                  <c:v>0.41</c:v>
                </c:pt>
              </c:numCache>
            </c:numRef>
          </c:val>
          <c:extLst>
            <c:ext xmlns:c16="http://schemas.microsoft.com/office/drawing/2014/chart" uri="{C3380CC4-5D6E-409C-BE32-E72D297353CC}">
              <c16:uniqueId val="{00000000-4462-44CB-9161-A2BAC11CBEE1}"/>
            </c:ext>
          </c:extLst>
        </c:ser>
        <c:dLbls>
          <c:dLblPos val="inEnd"/>
          <c:showLegendKey val="0"/>
          <c:showVal val="1"/>
          <c:showCatName val="0"/>
          <c:showSerName val="0"/>
          <c:showPercent val="0"/>
          <c:showBubbleSize val="0"/>
        </c:dLbls>
        <c:gapWidth val="65"/>
        <c:axId val="468261152"/>
        <c:axId val="477825088"/>
      </c:barChart>
      <c:catAx>
        <c:axId val="468261152"/>
        <c:scaling>
          <c:orientation val="minMax"/>
        </c:scaling>
        <c:delete val="0"/>
        <c:axPos val="b"/>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477825088"/>
        <c:crosses val="autoZero"/>
        <c:auto val="1"/>
        <c:lblAlgn val="ctr"/>
        <c:lblOffset val="100"/>
        <c:noMultiLvlLbl val="0"/>
      </c:catAx>
      <c:valAx>
        <c:axId val="477825088"/>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1"/>
        <c:majorTickMark val="none"/>
        <c:minorTickMark val="none"/>
        <c:tickLblPos val="nextTo"/>
        <c:crossAx val="468261152"/>
        <c:crosses val="autoZero"/>
        <c:crossBetween val="between"/>
      </c:valAx>
      <c:spPr>
        <a:noFill/>
        <a:ln>
          <a:noFill/>
        </a:ln>
        <a:effectLst/>
      </c:spPr>
    </c:plotArea>
    <c:legend>
      <c:legendPos val="b"/>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3.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Sheet1!$A$2:$A$6</cx:f>
        <cx:lvl ptCount="5">
          <cx:pt idx="0">Social Media Advertising</cx:pt>
          <cx:pt idx="1">Influencer Marketing</cx:pt>
          <cx:pt idx="2">Google Search Ads</cx:pt>
          <cx:pt idx="3">Content Marketing</cx:pt>
          <cx:pt idx="4">Email Marketing</cx:pt>
        </cx:lvl>
      </cx:strDim>
      <cx:numDim type="val">
        <cx:f>Sheet1!$B$2:$B$6</cx:f>
        <cx:lvl ptCount="5" formatCode="0%">
          <cx:pt idx="0">0.40000000000000002</cx:pt>
          <cx:pt idx="1">0.25</cx:pt>
          <cx:pt idx="2">0.20000000000000001</cx:pt>
          <cx:pt idx="3">0.10000000000000001</cx:pt>
          <cx:pt idx="4">0.050000000000000003</cx:pt>
        </cx:lvl>
      </cx:numDim>
    </cx:data>
  </cx:chartData>
  <cx:chart>
    <cx:title pos="t" align="ctr" overlay="0">
      <cx:tx>
        <cx:rich>
          <a:bodyPr spcFirstLastPara="1" vertOverflow="ellipsis" wrap="square" lIns="0" tIns="0" rIns="0" bIns="0" anchor="ctr" anchorCtr="1"/>
          <a:lstStyle/>
          <a:p>
            <a:pPr algn="ctr">
              <a:defRPr/>
            </a:pPr>
            <a:r>
              <a:rPr lang="en-US" dirty="0" smtClean="0"/>
              <a:t>Digital Marketing Budget Allocation</a:t>
            </a:r>
            <a:endParaRPr lang="en-US" dirty="0"/>
          </a:p>
        </cx:rich>
      </cx:tx>
    </cx:title>
    <cx:plotArea>
      <cx:plotAreaRegion>
        <cx:series layoutId="clusteredColumn" uniqueId="{4EC681FD-402F-4BA0-8564-EFED795FB787}">
          <cx:tx>
            <cx:txData>
              <cx:f>Sheet1!$B$1</cx:f>
              <cx:v>Budget %</cx:v>
            </cx:txData>
          </cx:tx>
          <cx:dataLabels pos="inEnd">
            <cx:visibility seriesName="0" categoryName="0" value="1"/>
          </cx:dataLabels>
          <cx:dataId val="0"/>
          <cx:layoutPr>
            <cx:aggregation/>
          </cx:layoutPr>
          <cx:axisId val="1"/>
        </cx:series>
        <cx:series layoutId="paretoLine" ownerIdx="0" uniqueId="{C0DA6577-9942-4206-A1C5-794491660039}">
          <cx:axisId val="2"/>
        </cx:series>
      </cx:plotAreaRegion>
      <cx:axis id="0">
        <cx:catScaling gapWidth="0"/>
        <cx:tickLabels/>
      </cx:axis>
      <cx:axis id="1" hidden="1">
        <cx:valScaling/>
        <cx:majorGridlines/>
        <cx:tickLabels/>
      </cx:axis>
      <cx:axis id="2">
        <cx:valScaling max="1" min="0"/>
        <cx:units unit="percentage"/>
        <cx:tickLabels/>
      </cx:axis>
    </cx:plotArea>
  </cx:chart>
</cx: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75000"/>
                  <a:lumOff val="25000"/>
                </a:schemeClr>
              </a:solidFill>
              <a:latin typeface="+mn-lt"/>
              <a:ea typeface="+mn-ea"/>
              <a:cs typeface="+mn-cs"/>
            </a:defRPr>
          </a:pPr>
          <a:endParaRPr lang="en-US"/>
        </a:p>
      </c:txPr>
    </c:title>
    <c:autoTitleDeleted val="0"/>
    <c:view3D>
      <c:rotX val="5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Sheet1!$B$1</c:f>
              <c:strCache>
                <c:ptCount val="1"/>
                <c:pt idx="0">
                  <c:v>Users</c:v>
                </c:pt>
              </c:strCache>
            </c:strRef>
          </c:tx>
          <c:dPt>
            <c:idx val="0"/>
            <c:bubble3D val="0"/>
            <c:spPr>
              <a:solidFill>
                <a:schemeClr val="accent1"/>
              </a:solidFill>
              <a:ln>
                <a:noFill/>
              </a:ln>
              <a:effectLst>
                <a:outerShdw blurRad="254000" sx="102000" sy="102000" algn="ctr" rotWithShape="0">
                  <a:prstClr val="black">
                    <a:alpha val="20000"/>
                  </a:prstClr>
                </a:outerShdw>
              </a:effectLst>
              <a:sp3d/>
            </c:spPr>
          </c:dPt>
          <c:dPt>
            <c:idx val="1"/>
            <c:bubble3D val="0"/>
            <c:spPr>
              <a:solidFill>
                <a:schemeClr val="accent2"/>
              </a:solidFill>
              <a:ln>
                <a:noFill/>
              </a:ln>
              <a:effectLst>
                <a:outerShdw blurRad="254000" sx="102000" sy="102000" algn="ctr" rotWithShape="0">
                  <a:prstClr val="black">
                    <a:alpha val="20000"/>
                  </a:prstClr>
                </a:outerShdw>
              </a:effectLst>
              <a:sp3d/>
            </c:spPr>
          </c:dPt>
          <c:dPt>
            <c:idx val="2"/>
            <c:bubble3D val="0"/>
            <c:spPr>
              <a:solidFill>
                <a:schemeClr val="accent3"/>
              </a:solidFill>
              <a:ln>
                <a:noFill/>
              </a:ln>
              <a:effectLst>
                <a:outerShdw blurRad="254000" sx="102000" sy="102000" algn="ctr" rotWithShape="0">
                  <a:prstClr val="black">
                    <a:alpha val="20000"/>
                  </a:prstClr>
                </a:outerShdw>
              </a:effectLst>
              <a:sp3d/>
            </c:spPr>
          </c:dPt>
          <c:dPt>
            <c:idx val="3"/>
            <c:bubble3D val="0"/>
            <c:spPr>
              <a:solidFill>
                <a:schemeClr val="accent4"/>
              </a:solidFill>
              <a:ln>
                <a:noFill/>
              </a:ln>
              <a:effectLst>
                <a:outerShdw blurRad="254000" sx="102000" sy="102000" algn="ctr" rotWithShape="0">
                  <a:prstClr val="black">
                    <a:alpha val="20000"/>
                  </a:prstClr>
                </a:outerShdw>
              </a:effectLst>
              <a:sp3d/>
            </c:spPr>
          </c:dPt>
          <c:dLbls>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15:layout/>
              </c:ext>
            </c:extLst>
          </c:dLbls>
          <c:cat>
            <c:strRef>
              <c:f>Sheet1!$A$2:$A$5</c:f>
              <c:strCache>
                <c:ptCount val="4"/>
                <c:pt idx="0">
                  <c:v>Ad Reach</c:v>
                </c:pt>
                <c:pt idx="1">
                  <c:v>Website Visits</c:v>
                </c:pt>
                <c:pt idx="2">
                  <c:v>Leads Generated</c:v>
                </c:pt>
                <c:pt idx="3">
                  <c:v>Conversions (Sales)</c:v>
                </c:pt>
              </c:strCache>
            </c:strRef>
          </c:cat>
          <c:val>
            <c:numRef>
              <c:f>Sheet1!$B$2:$B$5</c:f>
              <c:numCache>
                <c:formatCode>#,##0</c:formatCode>
                <c:ptCount val="4"/>
                <c:pt idx="0">
                  <c:v>500000</c:v>
                </c:pt>
                <c:pt idx="1">
                  <c:v>25000</c:v>
                </c:pt>
                <c:pt idx="2">
                  <c:v>4000</c:v>
                </c:pt>
                <c:pt idx="3" formatCode="General">
                  <c:v>800</c:v>
                </c:pt>
              </c:numCache>
            </c:numRef>
          </c:val>
          <c:extLst>
            <c:ext xmlns:c16="http://schemas.microsoft.com/office/drawing/2014/chart" uri="{C3380CC4-5D6E-409C-BE32-E72D297353CC}">
              <c16:uniqueId val="{00000000-B577-4FBC-8602-17CFB9711F7D}"/>
            </c:ext>
          </c:extLst>
        </c:ser>
        <c:dLbls>
          <c:dLblPos val="ctr"/>
          <c:showLegendKey val="0"/>
          <c:showVal val="0"/>
          <c:showCatName val="0"/>
          <c:showSerName val="0"/>
          <c:showPercent val="1"/>
          <c:showBubbleSize val="0"/>
          <c:showLeaderLines val="1"/>
        </c:dLbls>
      </c:pie3DChart>
      <c:spPr>
        <a:noFill/>
        <a:ln>
          <a:noFill/>
        </a:ln>
        <a:effectLst/>
      </c:spPr>
    </c:plotArea>
    <c:legend>
      <c:legendPos val="r"/>
      <c:layout/>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gap"/>
    <c:showDLblsOverMax val="0"/>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368">
  <cs:axisTitle>
    <cs:lnRef idx="0"/>
    <cs:fillRef idx="0"/>
    <cs:effectRef idx="0"/>
    <cs:fontRef idx="minor">
      <a:schemeClr val="dk1">
        <a:lumMod val="75000"/>
        <a:lumOff val="25000"/>
      </a:schemeClr>
    </cs:fontRef>
    <cs:defRPr sz="1197"/>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baseline="0"/>
    <cs:bodyPr/>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cs:dataLabel>
  <cs:dataLabelCallout>
    <cs:lnRef idx="0"/>
    <cs:fillRef idx="0"/>
    <cs:effectRef idx="0"/>
    <cs:fontRef idx="minor">
      <a:schemeClr val="dk1">
        <a:lumMod val="75000"/>
        <a:lumOff val="25000"/>
      </a:schemeClr>
    </cs:fontRef>
    <cs:spPr>
      <a:solidFill>
        <a:schemeClr val="dk1">
          <a:lumMod val="65000"/>
          <a:lumOff val="35000"/>
          <a:alpha val="75000"/>
        </a:schemeClr>
      </a:solidFill>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cs:spPr>
  </cs:dataPoint>
  <cs:dataPoint3D>
    <cs:lnRef idx="0"/>
    <cs:fillRef idx="0">
      <cs:styleClr val="auto"/>
    </cs:fillRef>
    <cs:effectRef idx="0"/>
    <cs:fontRef idx="minor">
      <a:schemeClr val="dk1"/>
    </cs:fontRef>
    <cs:spPr>
      <a:solidFill>
        <a:schemeClr val="ph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2857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75000"/>
            <a:lumOff val="25000"/>
          </a:schemeClr>
        </a:solidFill>
      </a:ln>
    </cs:spPr>
    <cs:defRPr sz="1197"/>
  </cs:dataTable>
  <cs:downBar>
    <cs:lnRef idx="0"/>
    <cs:fillRef idx="0"/>
    <cs:effectRef idx="0"/>
    <cs:fontRef idx="minor">
      <a:schemeClr val="dk1"/>
    </cs:fontRef>
    <cs:spPr>
      <a:solidFill>
        <a:schemeClr val="dk1"/>
      </a:solidFill>
    </cs:spPr>
  </cs:downBar>
  <cs:dropLine>
    <cs:lnRef idx="0"/>
    <cs:fillRef idx="0"/>
    <cs:effectRef idx="0"/>
    <cs:fontRef idx="minor">
      <a:schemeClr val="dk1"/>
    </cs:fontRef>
  </cs:dropLine>
  <cs:errorBar>
    <cs:lnRef idx="0"/>
    <cs:fillRef idx="0"/>
    <cs:effectRef idx="0"/>
    <cs:fontRef idx="minor">
      <a:schemeClr val="dk1"/>
    </cs:fontRef>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lumOff val="10000"/>
              </a:schemeClr>
            </a:gs>
            <a:gs pos="0">
              <a:schemeClr val="lt1">
                <a:lumMod val="75000"/>
                <a:alpha val="36000"/>
                <a:lumOff val="10000"/>
              </a:schemeClr>
            </a:gs>
          </a:gsLst>
          <a:lin ang="5400000" scaled="0"/>
        </a:gradFill>
      </a:ln>
    </cs:spPr>
  </cs:gridlineMinor>
  <cs:hiLoLine>
    <cs:lnRef idx="0"/>
    <cs:fillRef idx="0"/>
    <cs:effectRef idx="0"/>
    <cs:fontRef idx="minor">
      <a:schemeClr val="dk1"/>
    </cs:fontRef>
  </cs:hiLoLine>
  <cs:leaderLine>
    <cs:lnRef idx="0"/>
    <cs:fillRef idx="0"/>
    <cs:effectRef idx="0"/>
    <cs:fontRef idx="minor">
      <a:schemeClr val="dk1"/>
    </cs:fontRef>
  </cs:leaderLine>
  <cs:legend>
    <cs:lnRef idx="0"/>
    <cs:fillRef idx="0"/>
    <cs:effectRef idx="0"/>
    <cs:fontRef idx="minor">
      <a:schemeClr val="dk1">
        <a:lumMod val="75000"/>
        <a:lumOff val="25000"/>
      </a:schemeClr>
    </cs:fontRef>
    <cs:spPr>
      <a:solidFill>
        <a:schemeClr val="lt1">
          <a:lumMod val="95000"/>
          <a:alpha val="39000"/>
        </a:schemeClr>
      </a:solidFill>
    </cs:spPr>
    <cs:defRPr sz="1197"/>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cs:bodyPr/>
  </cs:seriesAxis>
  <cs:seriesLine>
    <cs:lnRef idx="0"/>
    <cs:fillRef idx="0"/>
    <cs:effectRef idx="0"/>
    <cs:fontRef idx="minor">
      <a:schemeClr val="dk1"/>
    </cs:fontRef>
    <cs:spPr>
      <a:ln w="9525" cap="flat">
        <a:solidFill>
          <a:srgbClr val="D9D9D9"/>
        </a:solidFill>
        <a:round/>
      </a:ln>
    </cs:spPr>
  </cs:seriesLine>
  <cs:title>
    <cs:lnRef idx="0"/>
    <cs:fillRef idx="0"/>
    <cs:effectRef idx="0"/>
    <cs:fontRef idx="minor">
      <a:schemeClr val="dk1">
        <a:lumMod val="75000"/>
        <a:lumOff val="25000"/>
      </a:schemeClr>
    </cs:fontRef>
    <cs:defRPr sz="2200" b="1" kern="1200" baseline="0"/>
    <cs:body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75000"/>
        <a:lumOff val="25000"/>
      </a:schemeClr>
    </cs:fontRef>
    <cs:defRPr sz="1197"/>
  </cs:trendlineLabel>
  <cs:upBar>
    <cs:lnRef idx="0"/>
    <cs:fillRef idx="0"/>
    <cs:effectRef idx="0"/>
    <cs:fontRef idx="minor">
      <a:schemeClr val="dk1"/>
    </cs:fontRef>
    <cs:spPr>
      <a:solidFill>
        <a:schemeClr val="lt1"/>
      </a:solidFill>
    </cs:spPr>
  </cs:upBar>
  <cs:valueAxis>
    <cs:lnRef idx="0"/>
    <cs:fillRef idx="0"/>
    <cs:effectRef idx="0"/>
    <cs:fontRef idx="minor">
      <a:schemeClr val="dk1">
        <a:lumMod val="75000"/>
        <a:lumOff val="25000"/>
      </a:schemeClr>
    </cs:fontRef>
    <cs:defRPr sz="1197" kern="1200"/>
    <cs:bodyPr/>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64">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hart" Target="../charts/chart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6" name="TextBox 5"/>
          <p:cNvSpPr txBox="1"/>
          <p:nvPr/>
        </p:nvSpPr>
        <p:spPr>
          <a:xfrm>
            <a:off x="1777198" y="305602"/>
            <a:ext cx="2479842" cy="523220"/>
          </a:xfrm>
          <a:prstGeom prst="rect">
            <a:avLst/>
          </a:prstGeom>
          <a:noFill/>
        </p:spPr>
        <p:txBody>
          <a:bodyPr wrap="square" rtlCol="0">
            <a:spAutoFit/>
          </a:bodyPr>
          <a:lstStyle/>
          <a:p>
            <a:r>
              <a:rPr lang="en-US" b="1" dirty="0">
                <a:solidFill>
                  <a:schemeClr val="accent1">
                    <a:lumMod val="20000"/>
                    <a:lumOff val="80000"/>
                  </a:schemeClr>
                </a:solidFill>
              </a:rPr>
              <a:t>Digital </a:t>
            </a:r>
            <a:r>
              <a:rPr lang="en-US" sz="2800" b="1" dirty="0">
                <a:solidFill>
                  <a:schemeClr val="bg2">
                    <a:lumMod val="75000"/>
                  </a:schemeClr>
                </a:solidFill>
              </a:rPr>
              <a:t>Marketing</a:t>
            </a:r>
            <a:endParaRPr lang="en-US" sz="2800" dirty="0">
              <a:solidFill>
                <a:schemeClr val="bg2">
                  <a:lumMod val="75000"/>
                </a:schemeClr>
              </a:solidFill>
            </a:endParaRPr>
          </a:p>
        </p:txBody>
      </p:sp>
      <p:sp>
        <p:nvSpPr>
          <p:cNvPr id="7" name="TextBox 6"/>
          <p:cNvSpPr txBox="1"/>
          <p:nvPr/>
        </p:nvSpPr>
        <p:spPr>
          <a:xfrm>
            <a:off x="2023533" y="751878"/>
            <a:ext cx="2387600" cy="369332"/>
          </a:xfrm>
          <a:prstGeom prst="rect">
            <a:avLst/>
          </a:prstGeom>
          <a:noFill/>
        </p:spPr>
        <p:txBody>
          <a:bodyPr wrap="square" rtlCol="0">
            <a:spAutoFit/>
          </a:bodyPr>
          <a:lstStyle/>
          <a:p>
            <a:r>
              <a:rPr lang="en-US" b="1" dirty="0">
                <a:solidFill>
                  <a:schemeClr val="accent1">
                    <a:lumMod val="20000"/>
                    <a:lumOff val="80000"/>
                  </a:schemeClr>
                </a:solidFill>
              </a:rPr>
              <a:t>Campaign Design</a:t>
            </a:r>
            <a:endParaRPr lang="en-US" dirty="0">
              <a:solidFill>
                <a:schemeClr val="accent1">
                  <a:lumMod val="20000"/>
                  <a:lumOff val="80000"/>
                </a:schemeClr>
              </a:solidFill>
            </a:endParaRPr>
          </a:p>
        </p:txBody>
      </p:sp>
      <p:sp>
        <p:nvSpPr>
          <p:cNvPr id="8" name="TextBox 7"/>
          <p:cNvSpPr txBox="1"/>
          <p:nvPr/>
        </p:nvSpPr>
        <p:spPr>
          <a:xfrm>
            <a:off x="2201334" y="1134424"/>
            <a:ext cx="1845733" cy="400110"/>
          </a:xfrm>
          <a:prstGeom prst="rect">
            <a:avLst/>
          </a:prstGeom>
          <a:noFill/>
        </p:spPr>
        <p:txBody>
          <a:bodyPr wrap="square" rtlCol="0">
            <a:spAutoFit/>
          </a:bodyPr>
          <a:lstStyle/>
          <a:p>
            <a:r>
              <a:rPr lang="en-US" b="1" dirty="0">
                <a:solidFill>
                  <a:schemeClr val="accent1">
                    <a:lumMod val="20000"/>
                    <a:lumOff val="80000"/>
                  </a:schemeClr>
                </a:solidFill>
              </a:rPr>
              <a:t>for</a:t>
            </a:r>
            <a:r>
              <a:rPr lang="en-US" b="1" dirty="0">
                <a:solidFill>
                  <a:srgbClr val="004C99"/>
                </a:solidFill>
              </a:rPr>
              <a:t> </a:t>
            </a:r>
            <a:r>
              <a:rPr lang="en-US" sz="2000" b="1" dirty="0" err="1">
                <a:solidFill>
                  <a:schemeClr val="bg2">
                    <a:lumMod val="75000"/>
                  </a:schemeClr>
                </a:solidFill>
              </a:rPr>
              <a:t>EnerPrime</a:t>
            </a:r>
            <a:endParaRPr lang="en-US" sz="2000" dirty="0">
              <a:solidFill>
                <a:schemeClr val="bg2">
                  <a:lumMod val="75000"/>
                </a:schemeClr>
              </a:solidFill>
            </a:endParaRPr>
          </a:p>
        </p:txBody>
      </p:sp>
    </p:spTree>
    <p:extLst>
      <p:ext uri="{BB962C8B-B14F-4D97-AF65-F5344CB8AC3E}">
        <p14:creationId xmlns:p14="http://schemas.microsoft.com/office/powerpoint/2010/main" val="3606804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iterate type="lt">
                                    <p:tmPct val="30000"/>
                                  </p:iterate>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par>
                          <p:cTn id="8" fill="hold">
                            <p:stCondLst>
                              <p:cond delay="2750"/>
                            </p:stCondLst>
                            <p:childTnLst>
                              <p:par>
                                <p:cTn id="9" presetID="10" presetClass="entr" presetSubtype="0" fill="hold" nodeType="afterEffect">
                                  <p:stCondLst>
                                    <p:cond delay="0"/>
                                  </p:stCondLst>
                                  <p:iterate type="lt">
                                    <p:tmPct val="30000"/>
                                  </p:iterate>
                                  <p:childTnLst>
                                    <p:set>
                                      <p:cBhvr>
                                        <p:cTn id="10" dur="1" fill="hold">
                                          <p:stCondLst>
                                            <p:cond delay="0"/>
                                          </p:stCondLst>
                                        </p:cTn>
                                        <p:tgtEl>
                                          <p:spTgt spid="7">
                                            <p:txEl>
                                              <p:pRg st="0" end="0"/>
                                            </p:txEl>
                                          </p:spTgt>
                                        </p:tgtEl>
                                        <p:attrNameLst>
                                          <p:attrName>style.visibility</p:attrName>
                                        </p:attrNameLst>
                                      </p:cBhvr>
                                      <p:to>
                                        <p:strVal val="visible"/>
                                      </p:to>
                                    </p:set>
                                    <p:animEffect transition="in" filter="fade">
                                      <p:cBhvr>
                                        <p:cTn id="11" dur="500"/>
                                        <p:tgtEl>
                                          <p:spTgt spid="7">
                                            <p:txEl>
                                              <p:pRg st="0" end="0"/>
                                            </p:txEl>
                                          </p:spTgt>
                                        </p:tgtEl>
                                      </p:cBhvr>
                                    </p:animEffect>
                                  </p:childTnLst>
                                </p:cTn>
                              </p:par>
                            </p:childTnLst>
                          </p:cTn>
                        </p:par>
                        <p:par>
                          <p:cTn id="12" fill="hold">
                            <p:stCondLst>
                              <p:cond delay="5200"/>
                            </p:stCondLst>
                            <p:childTnLst>
                              <p:par>
                                <p:cTn id="13" presetID="10" presetClass="entr" presetSubtype="0" fill="hold" nodeType="afterEffect">
                                  <p:stCondLst>
                                    <p:cond delay="0"/>
                                  </p:stCondLst>
                                  <p:iterate type="lt">
                                    <p:tmPct val="30000"/>
                                  </p:iterate>
                                  <p:childTnLst>
                                    <p:set>
                                      <p:cBhvr>
                                        <p:cTn id="14" dur="1" fill="hold">
                                          <p:stCondLst>
                                            <p:cond delay="0"/>
                                          </p:stCondLst>
                                        </p:cTn>
                                        <p:tgtEl>
                                          <p:spTgt spid="8">
                                            <p:txEl>
                                              <p:pRg st="0" end="0"/>
                                            </p:txEl>
                                          </p:spTgt>
                                        </p:tgtEl>
                                        <p:attrNameLst>
                                          <p:attrName>style.visibility</p:attrName>
                                        </p:attrNameLst>
                                      </p:cBhvr>
                                      <p:to>
                                        <p:strVal val="visible"/>
                                      </p:to>
                                    </p:set>
                                    <p:animEffect transition="in" filter="fade">
                                      <p:cBhvr>
                                        <p:cTn id="15"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ormAutofit fontScale="90000"/>
          </a:bodyPr>
          <a:lstStyle/>
          <a:p>
            <a:r>
              <a:rPr lang="en-US" b="1" i="1" dirty="0">
                <a:solidFill>
                  <a:schemeClr val="accent1">
                    <a:lumMod val="75000"/>
                  </a:schemeClr>
                </a:solidFill>
                <a:latin typeface="Times New Roman" panose="02020603050405020304" pitchFamily="18" charset="0"/>
                <a:cs typeface="Times New Roman" panose="02020603050405020304" pitchFamily="18" charset="0"/>
              </a:rPr>
              <a:t>PRODUCT &amp; CAMPAIGN OVERVIEW</a:t>
            </a:r>
          </a:p>
        </p:txBody>
      </p:sp>
      <p:sp>
        <p:nvSpPr>
          <p:cNvPr id="7" name="Content Placeholder 6"/>
          <p:cNvSpPr>
            <a:spLocks noGrp="1"/>
          </p:cNvSpPr>
          <p:nvPr>
            <p:ph idx="1"/>
          </p:nvPr>
        </p:nvSpPr>
        <p:spPr/>
        <p:txBody>
          <a:bodyPr>
            <a:normAutofit fontScale="70000" lnSpcReduction="20000"/>
          </a:bodyPr>
          <a:lstStyle/>
          <a:p>
            <a:r>
              <a:rPr lang="en-US" b="1" dirty="0" err="1"/>
              <a:t>EnerPrime</a:t>
            </a:r>
            <a:r>
              <a:rPr lang="en-US" b="1" dirty="0"/>
              <a:t> is a natural energy drink created to meet the needs of modern consumers who require consistent energy without compromising their health. Unlike traditional energy drinks that contain high levels of sugar and artificial stimulants, </a:t>
            </a:r>
            <a:r>
              <a:rPr lang="en-US" b="1" dirty="0" err="1"/>
              <a:t>EnerPrime</a:t>
            </a:r>
            <a:r>
              <a:rPr lang="en-US" b="1" dirty="0"/>
              <a:t> is formulated using organic ingredients that provide sustained energy and improved focus.</a:t>
            </a:r>
          </a:p>
          <a:p>
            <a:r>
              <a:rPr lang="en-US" b="1" dirty="0"/>
              <a:t>The purpose of this digital marketing campaign is to introduce </a:t>
            </a:r>
            <a:r>
              <a:rPr lang="en-US" b="1" dirty="0" err="1"/>
              <a:t>EnerPrime</a:t>
            </a:r>
            <a:r>
              <a:rPr lang="en-US" b="1" dirty="0"/>
              <a:t> to the market, establish a strong brand identity, and communicate its health-focused value proposition. The campaign aims to create awareness, educate consumers about the benefits of natural energy drinks, and drive online sales through digital channels. This strategy focuses on long-term brand building rather than short-term promotion.</a:t>
            </a:r>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7070" y="5024282"/>
            <a:ext cx="2981017" cy="1696065"/>
          </a:xfrm>
          <a:prstGeom prst="rect">
            <a:avLst/>
          </a:prstGeom>
        </p:spPr>
      </p:pic>
    </p:spTree>
    <p:extLst>
      <p:ext uri="{BB962C8B-B14F-4D97-AF65-F5344CB8AC3E}">
        <p14:creationId xmlns:p14="http://schemas.microsoft.com/office/powerpoint/2010/main" val="19910876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a:bodyPr>
          <a:lstStyle/>
          <a:p>
            <a:r>
              <a:rPr lang="en-US" dirty="0">
                <a:solidFill>
                  <a:schemeClr val="accent1">
                    <a:lumMod val="75000"/>
                  </a:schemeClr>
                </a:solidFill>
                <a:latin typeface="Times New Roman" panose="02020603050405020304" pitchFamily="18" charset="0"/>
                <a:cs typeface="Times New Roman" panose="02020603050405020304" pitchFamily="18" charset="0"/>
              </a:rPr>
              <a:t>TARGET AUDIENCE ANALYSIS</a:t>
            </a:r>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333214072"/>
              </p:ext>
            </p:extLst>
          </p:nvPr>
        </p:nvGraphicFramePr>
        <p:xfrm>
          <a:off x="3781528" y="115734"/>
          <a:ext cx="5111750" cy="5853113"/>
        </p:xfrm>
        <a:graphic>
          <a:graphicData uri="http://schemas.openxmlformats.org/drawingml/2006/chart">
            <c:chart xmlns:c="http://schemas.openxmlformats.org/drawingml/2006/chart" xmlns:r="http://schemas.openxmlformats.org/officeDocument/2006/relationships" r:id="rId2"/>
          </a:graphicData>
        </a:graphic>
      </p:graphicFrame>
      <p:sp>
        <p:nvSpPr>
          <p:cNvPr id="9" name="Text Placeholder 8"/>
          <p:cNvSpPr>
            <a:spLocks noGrp="1"/>
          </p:cNvSpPr>
          <p:nvPr>
            <p:ph type="body" sz="half" idx="2"/>
          </p:nvPr>
        </p:nvSpPr>
        <p:spPr>
          <a:xfrm>
            <a:off x="457199" y="1435100"/>
            <a:ext cx="3008313" cy="4691063"/>
          </a:xfrm>
        </p:spPr>
        <p:txBody>
          <a:bodyPr>
            <a:normAutofit fontScale="92500" lnSpcReduction="10000"/>
          </a:bodyPr>
          <a:lstStyle/>
          <a:p>
            <a:endParaRPr lang="en-US" dirty="0" smtClean="0"/>
          </a:p>
          <a:p>
            <a:r>
              <a:rPr lang="en-US" sz="1500" b="1" dirty="0"/>
              <a:t>The primary target audience for </a:t>
            </a:r>
            <a:r>
              <a:rPr lang="en-US" sz="1500" b="1" dirty="0" err="1"/>
              <a:t>EnerPrime</a:t>
            </a:r>
            <a:r>
              <a:rPr lang="en-US" sz="1500" b="1" dirty="0"/>
              <a:t> includes individuals between the ages of 18 and 35. This group consists mainly of college students, young professionals, fitness enthusiasts, gamers, and people with active lifestyles who often require physical and mental energy support.</a:t>
            </a:r>
          </a:p>
          <a:p>
            <a:r>
              <a:rPr lang="en-US" sz="1500" b="1" dirty="0"/>
              <a:t>This audience is digitally active and spends significant time on platforms such as Instagram, </a:t>
            </a:r>
            <a:r>
              <a:rPr lang="en-US" sz="1500" b="1" dirty="0" err="1"/>
              <a:t>TikTok</a:t>
            </a:r>
            <a:r>
              <a:rPr lang="en-US" sz="1500" b="1" dirty="0"/>
              <a:t>, YouTube, and Google. They prefer brands that promote wellness, transparency, and authenticity. Their purchasing decisions are influenced by peer recommendations, influencer content, online reviews, and visual storytelling. Understanding this audience helps in designing personalized and engaging marketing messages.</a:t>
            </a:r>
          </a:p>
          <a:p>
            <a:endParaRPr lang="en-US" dirty="0"/>
          </a:p>
        </p:txBody>
      </p:sp>
      <p:sp>
        <p:nvSpPr>
          <p:cNvPr id="14" name="TextBox 13"/>
          <p:cNvSpPr txBox="1"/>
          <p:nvPr/>
        </p:nvSpPr>
        <p:spPr>
          <a:xfrm>
            <a:off x="3781528" y="5968847"/>
            <a:ext cx="5111750" cy="523220"/>
          </a:xfrm>
          <a:prstGeom prst="rect">
            <a:avLst/>
          </a:prstGeom>
          <a:noFill/>
        </p:spPr>
        <p:txBody>
          <a:bodyPr wrap="square" rtlCol="0">
            <a:spAutoFit/>
          </a:bodyPr>
          <a:lstStyle/>
          <a:p>
            <a:pPr algn="ctr"/>
            <a:r>
              <a:rPr lang="en-US" sz="1400" b="1" dirty="0"/>
              <a:t>The 18–27 age group forms the core target market and shows high engagement with digital and influencer marketing.</a:t>
            </a:r>
          </a:p>
        </p:txBody>
      </p:sp>
    </p:spTree>
    <p:extLst>
      <p:ext uri="{BB962C8B-B14F-4D97-AF65-F5344CB8AC3E}">
        <p14:creationId xmlns:p14="http://schemas.microsoft.com/office/powerpoint/2010/main" val="98831636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b="1" i="1" dirty="0">
                <a:solidFill>
                  <a:schemeClr val="accent1">
                    <a:lumMod val="75000"/>
                  </a:schemeClr>
                </a:solidFill>
                <a:latin typeface="Times New Roman" panose="02020603050405020304" pitchFamily="18" charset="0"/>
                <a:cs typeface="Times New Roman" panose="02020603050405020304" pitchFamily="18" charset="0"/>
              </a:rPr>
              <a:t>MARKETING OBJECTIVES</a:t>
            </a:r>
          </a:p>
        </p:txBody>
      </p:sp>
      <p:sp>
        <p:nvSpPr>
          <p:cNvPr id="6" name="Content Placeholder 5"/>
          <p:cNvSpPr>
            <a:spLocks noGrp="1"/>
          </p:cNvSpPr>
          <p:nvPr>
            <p:ph idx="1"/>
          </p:nvPr>
        </p:nvSpPr>
        <p:spPr/>
        <p:txBody>
          <a:bodyPr>
            <a:normAutofit fontScale="85000" lnSpcReduction="20000"/>
          </a:bodyPr>
          <a:lstStyle/>
          <a:p>
            <a:r>
              <a:rPr lang="en-US" sz="2800" b="1" dirty="0"/>
              <a:t>The primary objective of this digital marketing campaign is to increase brand awareness and online visibility of </a:t>
            </a:r>
            <a:r>
              <a:rPr lang="en-US" sz="2800" b="1" dirty="0" err="1"/>
              <a:t>EnerPrime</a:t>
            </a:r>
            <a:r>
              <a:rPr lang="en-US" sz="2800" b="1" dirty="0"/>
              <a:t> among young consumers. The campaign seeks to introduce </a:t>
            </a:r>
            <a:r>
              <a:rPr lang="en-US" sz="2800" b="1" dirty="0" err="1"/>
              <a:t>EnerPrime</a:t>
            </a:r>
            <a:r>
              <a:rPr lang="en-US" sz="2800" b="1" dirty="0"/>
              <a:t> as a healthier alternative to conventional energy drinks and create curiosity around the product.</a:t>
            </a:r>
          </a:p>
          <a:p>
            <a:r>
              <a:rPr lang="en-US" sz="2800" b="1" dirty="0"/>
              <a:t>Another important objective is lead generation and conversion. The campaign aims to attract potential customers to the website and convert them into buyers through targeted advertising and promotional strategies. Additionally, the campaign focuses on building long-term customer relationships by encouraging engagement, repeat purchases, and brand loyalty through consistent digital interaction.</a:t>
            </a:r>
          </a:p>
          <a:p>
            <a:endParaRPr lang="en-US" dirty="0"/>
          </a:p>
        </p:txBody>
      </p:sp>
    </p:spTree>
    <p:extLst>
      <p:ext uri="{BB962C8B-B14F-4D97-AF65-F5344CB8AC3E}">
        <p14:creationId xmlns:p14="http://schemas.microsoft.com/office/powerpoint/2010/main" val="7797303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b="1" i="1" dirty="0">
                <a:solidFill>
                  <a:schemeClr val="accent1">
                    <a:lumMod val="75000"/>
                  </a:schemeClr>
                </a:solidFill>
                <a:latin typeface="Times New Roman" panose="02020603050405020304" pitchFamily="18" charset="0"/>
                <a:cs typeface="Times New Roman" panose="02020603050405020304" pitchFamily="18" charset="0"/>
              </a:rPr>
              <a:t>SOCIAL MEDIA STRATEGY</a:t>
            </a:r>
          </a:p>
        </p:txBody>
      </p:sp>
      <p:sp>
        <p:nvSpPr>
          <p:cNvPr id="6" name="Content Placeholder 5"/>
          <p:cNvSpPr>
            <a:spLocks noGrp="1"/>
          </p:cNvSpPr>
          <p:nvPr>
            <p:ph sz="half" idx="1"/>
          </p:nvPr>
        </p:nvSpPr>
        <p:spPr/>
        <p:txBody>
          <a:bodyPr>
            <a:normAutofit fontScale="40000" lnSpcReduction="20000"/>
          </a:bodyPr>
          <a:lstStyle/>
          <a:p>
            <a:r>
              <a:rPr lang="en-US" sz="3400" b="1" dirty="0"/>
              <a:t>Social media platforms will serve as the foundation of the </a:t>
            </a:r>
            <a:r>
              <a:rPr lang="en-US" sz="3400" b="1" dirty="0" err="1"/>
              <a:t>EnerPrime</a:t>
            </a:r>
            <a:r>
              <a:rPr lang="en-US" sz="3400" b="1" dirty="0"/>
              <a:t> marketing campaign. Instagram and </a:t>
            </a:r>
            <a:r>
              <a:rPr lang="en-US" sz="3400" b="1" dirty="0" err="1"/>
              <a:t>TikTok</a:t>
            </a:r>
            <a:r>
              <a:rPr lang="en-US" sz="3400" b="1" dirty="0"/>
              <a:t> will be used for short-form videos and reels showcasing real-life use cases such as workouts, late-night study sessions, and professional routines. YouTube will be used for longer video content, including product explanations and influencer collaborations</a:t>
            </a:r>
            <a:r>
              <a:rPr lang="en-US" sz="3400" b="1" dirty="0" smtClean="0"/>
              <a:t>.</a:t>
            </a:r>
          </a:p>
          <a:p>
            <a:pPr marL="0" indent="0">
              <a:buNone/>
            </a:pPr>
            <a:endParaRPr lang="en-US" sz="3400" b="1" dirty="0"/>
          </a:p>
          <a:p>
            <a:pPr marL="0" indent="0">
              <a:buNone/>
            </a:pPr>
            <a:endParaRPr lang="en-US" sz="3400" b="1" dirty="0"/>
          </a:p>
          <a:p>
            <a:r>
              <a:rPr lang="en-US" sz="3400" b="1" dirty="0"/>
              <a:t>The content strategy will focus on storytelling rather than direct selling. Interactive content such as polls, challenges, giveaways, and user-generated posts will encourage audience participation. Consistent posting and audience engagement will help build trust, increase brand recall, and create a strong online community around the brand.</a:t>
            </a:r>
          </a:p>
          <a:p>
            <a:endParaRPr lang="en-US" dirty="0"/>
          </a:p>
        </p:txBody>
      </p:sp>
      <p:graphicFrame>
        <p:nvGraphicFramePr>
          <p:cNvPr id="14" name="Content Placeholder 13"/>
          <p:cNvGraphicFramePr>
            <a:graphicFrameLocks noGrp="1"/>
          </p:cNvGraphicFramePr>
          <p:nvPr>
            <p:ph sz="half" idx="2"/>
            <p:extLst>
              <p:ext uri="{D42A27DB-BD31-4B8C-83A1-F6EECF244321}">
                <p14:modId xmlns:p14="http://schemas.microsoft.com/office/powerpoint/2010/main" val="3556040690"/>
              </p:ext>
            </p:extLst>
          </p:nvPr>
        </p:nvGraphicFramePr>
        <p:xfrm>
          <a:off x="4648200" y="1314450"/>
          <a:ext cx="4038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p:cNvSpPr txBox="1"/>
          <p:nvPr/>
        </p:nvSpPr>
        <p:spPr>
          <a:xfrm>
            <a:off x="4495800" y="5840413"/>
            <a:ext cx="4569542" cy="738664"/>
          </a:xfrm>
          <a:prstGeom prst="rect">
            <a:avLst/>
          </a:prstGeom>
          <a:noFill/>
        </p:spPr>
        <p:txBody>
          <a:bodyPr wrap="square" rtlCol="0">
            <a:spAutoFit/>
          </a:bodyPr>
          <a:lstStyle/>
          <a:p>
            <a:pPr algn="ctr"/>
            <a:r>
              <a:rPr lang="en-US" sz="1400" b="1" dirty="0" smtClean="0"/>
              <a:t>Instagram , YouTube , and </a:t>
            </a:r>
            <a:r>
              <a:rPr lang="en-US" sz="1400" b="1" dirty="0"/>
              <a:t>short-form video platforms dominate young adult </a:t>
            </a:r>
            <a:r>
              <a:rPr lang="en-US" sz="1400" b="1" dirty="0" smtClean="0"/>
              <a:t>usage, making </a:t>
            </a:r>
            <a:r>
              <a:rPr lang="en-US" sz="1400" b="1" dirty="0"/>
              <a:t>them ideal channels for high engagement.</a:t>
            </a:r>
          </a:p>
        </p:txBody>
      </p:sp>
    </p:spTree>
    <p:extLst>
      <p:ext uri="{BB962C8B-B14F-4D97-AF65-F5344CB8AC3E}">
        <p14:creationId xmlns:p14="http://schemas.microsoft.com/office/powerpoint/2010/main" val="357513687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i="1" dirty="0">
                <a:solidFill>
                  <a:schemeClr val="accent1">
                    <a:lumMod val="75000"/>
                  </a:schemeClr>
                </a:solidFill>
                <a:latin typeface="Times New Roman" panose="02020603050405020304" pitchFamily="18" charset="0"/>
                <a:cs typeface="Times New Roman" panose="02020603050405020304" pitchFamily="18" charset="0"/>
              </a:rPr>
              <a:t>ADVERTISING STRATEGY &amp; BUDGET</a:t>
            </a:r>
          </a:p>
        </p:txBody>
      </p:sp>
      <p:sp>
        <p:nvSpPr>
          <p:cNvPr id="6" name="Content Placeholder 5"/>
          <p:cNvSpPr>
            <a:spLocks noGrp="1"/>
          </p:cNvSpPr>
          <p:nvPr>
            <p:ph sz="half" idx="1"/>
          </p:nvPr>
        </p:nvSpPr>
        <p:spPr/>
        <p:txBody>
          <a:bodyPr>
            <a:normAutofit fontScale="70000" lnSpcReduction="20000"/>
          </a:bodyPr>
          <a:lstStyle/>
          <a:p>
            <a:r>
              <a:rPr lang="en-US" sz="2600" b="1" dirty="0"/>
              <a:t>A monthly digital marketing budget of $10,000 has been allocated to ensure maximum reach and engagement. The largest portion of the budget will be dedicated to social media advertising, as these platforms offer advanced targeting options and high engagement among the target audience</a:t>
            </a:r>
            <a:r>
              <a:rPr lang="en-US" sz="2600" b="1" dirty="0" smtClean="0"/>
              <a:t>.</a:t>
            </a:r>
          </a:p>
          <a:p>
            <a:pPr marL="0" indent="0">
              <a:buNone/>
            </a:pPr>
            <a:endParaRPr lang="en-US" sz="2600" b="1" dirty="0"/>
          </a:p>
          <a:p>
            <a:r>
              <a:rPr lang="en-US" sz="2600" b="1" dirty="0"/>
              <a:t>Google Search Ads will be used to capture high-intent users actively searching for energy drinks or health-related products. Influencer marketing will play a critical role in building credibility and trust, while retargeting ads will focus on converting users who have previously interacted with the brand.</a:t>
            </a:r>
          </a:p>
          <a:p>
            <a:endParaRPr lang="en-US" dirty="0"/>
          </a:p>
        </p:txBody>
      </p:sp>
      <mc:AlternateContent xmlns:mc="http://schemas.openxmlformats.org/markup-compatibility/2006">
        <mc:Choice xmlns:cx="http://schemas.microsoft.com/office/drawing/2014/chartex" Requires="cx">
          <p:graphicFrame>
            <p:nvGraphicFramePr>
              <p:cNvPr id="10" name="Content Placeholder 9"/>
              <p:cNvGraphicFramePr>
                <a:graphicFrameLocks noGrp="1"/>
              </p:cNvGraphicFramePr>
              <p:nvPr>
                <p:ph sz="half" idx="2"/>
                <p:extLst>
                  <p:ext uri="{D42A27DB-BD31-4B8C-83A1-F6EECF244321}">
                    <p14:modId xmlns:p14="http://schemas.microsoft.com/office/powerpoint/2010/main" val="4277380005"/>
                  </p:ext>
                </p:extLst>
              </p:nvPr>
            </p:nvGraphicFramePr>
            <p:xfrm>
              <a:off x="4648200" y="1600200"/>
              <a:ext cx="4038600" cy="4525963"/>
            </p:xfrm>
            <a:graphic>
              <a:graphicData uri="http://schemas.microsoft.com/office/drawing/2014/chartex">
                <c:chart xmlns:c="http://schemas.openxmlformats.org/drawingml/2006/chart" xmlns:r="http://schemas.openxmlformats.org/officeDocument/2006/relationships" r:id="rId2"/>
              </a:graphicData>
            </a:graphic>
          </p:graphicFrame>
        </mc:Choice>
        <mc:Fallback>
          <p:pic>
            <p:nvPicPr>
              <p:cNvPr id="10" name="Content Placeholder 9"/>
              <p:cNvPicPr>
                <a:picLocks noGrp="1" noRot="1" noChangeAspect="1" noMove="1" noResize="1" noEditPoints="1" noAdjustHandles="1" noChangeArrowheads="1" noChangeShapeType="1"/>
              </p:cNvPicPr>
              <p:nvPr/>
            </p:nvPicPr>
            <p:blipFill>
              <a:blip r:embed="rId3"/>
              <a:stretch>
                <a:fillRect/>
              </a:stretch>
            </p:blipFill>
            <p:spPr>
              <a:xfrm>
                <a:off x="4648200" y="1600200"/>
                <a:ext cx="4038600" cy="4525963"/>
              </a:xfrm>
              <a:prstGeom prst="rect">
                <a:avLst/>
              </a:prstGeom>
            </p:spPr>
          </p:pic>
        </mc:Fallback>
      </mc:AlternateContent>
      <p:sp>
        <p:nvSpPr>
          <p:cNvPr id="11" name="TextBox 10"/>
          <p:cNvSpPr txBox="1"/>
          <p:nvPr/>
        </p:nvSpPr>
        <p:spPr>
          <a:xfrm>
            <a:off x="4596580" y="6204431"/>
            <a:ext cx="4141839" cy="523220"/>
          </a:xfrm>
          <a:prstGeom prst="rect">
            <a:avLst/>
          </a:prstGeom>
          <a:noFill/>
        </p:spPr>
        <p:txBody>
          <a:bodyPr wrap="square" rtlCol="0">
            <a:spAutoFit/>
          </a:bodyPr>
          <a:lstStyle/>
          <a:p>
            <a:pPr algn="ctr"/>
            <a:r>
              <a:rPr lang="en-US" sz="1400" b="1" dirty="0"/>
              <a:t>Budget prioritizes social media and influencers for engagement, with search ads for high-intent users.</a:t>
            </a:r>
          </a:p>
        </p:txBody>
      </p:sp>
    </p:spTree>
    <p:extLst>
      <p:ext uri="{BB962C8B-B14F-4D97-AF65-F5344CB8AC3E}">
        <p14:creationId xmlns:p14="http://schemas.microsoft.com/office/powerpoint/2010/main" val="33304981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b="1" i="1" dirty="0">
                <a:solidFill>
                  <a:schemeClr val="accent1">
                    <a:lumMod val="75000"/>
                  </a:schemeClr>
                </a:solidFill>
                <a:latin typeface="Times New Roman" panose="02020603050405020304" pitchFamily="18" charset="0"/>
                <a:cs typeface="Times New Roman" panose="02020603050405020304" pitchFamily="18" charset="0"/>
              </a:rPr>
              <a:t>CONTENT PROMOTION &amp; INFLUENCER MARKETING</a:t>
            </a:r>
          </a:p>
        </p:txBody>
      </p:sp>
      <p:sp>
        <p:nvSpPr>
          <p:cNvPr id="6" name="Content Placeholder 5"/>
          <p:cNvSpPr>
            <a:spLocks noGrp="1"/>
          </p:cNvSpPr>
          <p:nvPr>
            <p:ph idx="1"/>
          </p:nvPr>
        </p:nvSpPr>
        <p:spPr/>
        <p:txBody>
          <a:bodyPr>
            <a:normAutofit fontScale="77500" lnSpcReduction="20000"/>
          </a:bodyPr>
          <a:lstStyle/>
          <a:p>
            <a:r>
              <a:rPr lang="en-US" sz="3100" b="1" dirty="0"/>
              <a:t>Influencer marketing will be implemented through collaborations with micro and </a:t>
            </a:r>
            <a:r>
              <a:rPr lang="en-US" sz="3100" b="1" dirty="0" err="1"/>
              <a:t>nano</a:t>
            </a:r>
            <a:r>
              <a:rPr lang="en-US" sz="3100" b="1" dirty="0"/>
              <a:t> influencers in fitness, lifestyle, student, and gaming communities. These influencers will create authentic content such as product reviews, unboxing videos, daily routines, and workout integrations</a:t>
            </a:r>
            <a:r>
              <a:rPr lang="en-US" sz="3100" b="1" dirty="0" smtClean="0"/>
              <a:t>.</a:t>
            </a:r>
          </a:p>
          <a:p>
            <a:endParaRPr lang="en-US" sz="3100" b="1" dirty="0"/>
          </a:p>
          <a:p>
            <a:r>
              <a:rPr lang="en-US" sz="3100" b="1" dirty="0"/>
              <a:t>Paid promotions will be used to amplify high-performing content and reach a wider audience. Email marketing will complement the campaign by nurturing leads through newsletters, discount offers, and educational content that explains the benefits of natural energy drinks. This integrated approach ensures consistent messaging across all digital touchpoints.</a:t>
            </a:r>
          </a:p>
          <a:p>
            <a:endParaRPr lang="en-US" dirty="0"/>
          </a:p>
        </p:txBody>
      </p:sp>
    </p:spTree>
    <p:extLst>
      <p:ext uri="{BB962C8B-B14F-4D97-AF65-F5344CB8AC3E}">
        <p14:creationId xmlns:p14="http://schemas.microsoft.com/office/powerpoint/2010/main" val="40373793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b="1" i="1" dirty="0">
                <a:solidFill>
                  <a:schemeClr val="accent1">
                    <a:lumMod val="75000"/>
                  </a:schemeClr>
                </a:solidFill>
                <a:latin typeface="Times New Roman" panose="02020603050405020304" pitchFamily="18" charset="0"/>
                <a:cs typeface="Times New Roman" panose="02020603050405020304" pitchFamily="18" charset="0"/>
              </a:rPr>
              <a:t>EXPECTED OUTCOMES &amp; PERFORMANCE METRICS</a:t>
            </a:r>
          </a:p>
        </p:txBody>
      </p:sp>
      <p:sp>
        <p:nvSpPr>
          <p:cNvPr id="10" name="Content Placeholder 9"/>
          <p:cNvSpPr>
            <a:spLocks noGrp="1"/>
          </p:cNvSpPr>
          <p:nvPr>
            <p:ph sz="half" idx="1"/>
          </p:nvPr>
        </p:nvSpPr>
        <p:spPr/>
        <p:txBody>
          <a:bodyPr>
            <a:normAutofit fontScale="70000" lnSpcReduction="20000"/>
          </a:bodyPr>
          <a:lstStyle/>
          <a:p>
            <a:r>
              <a:rPr lang="en-US" sz="2600" b="1" dirty="0"/>
              <a:t>The digital marketing campaign is expected to reach over 500,000 users within the first month. Increased brand visibility, higher engagement rates, and improved website traffic are anticipated as a result of consistent content and advertising efforts</a:t>
            </a:r>
            <a:r>
              <a:rPr lang="en-US" sz="2600" b="1" dirty="0" smtClean="0"/>
              <a:t>.</a:t>
            </a:r>
          </a:p>
          <a:p>
            <a:endParaRPr lang="en-US" sz="2600" b="1" dirty="0"/>
          </a:p>
          <a:p>
            <a:r>
              <a:rPr lang="en-US" sz="2600" b="1" dirty="0"/>
              <a:t>Key performance indicators will include reach, impressions, engagement rate, click-through rate, lead generation, and sales conversions. The campaign aims for a realistic conversion rate of 3–4%, which aligns with industry benchmarks. Regular performance monitoring will allow optimization of strategies to improve results.</a:t>
            </a:r>
          </a:p>
          <a:p>
            <a:endParaRPr lang="en-US" dirty="0"/>
          </a:p>
        </p:txBody>
      </p:sp>
      <p:graphicFrame>
        <p:nvGraphicFramePr>
          <p:cNvPr id="14" name="Content Placeholder 13"/>
          <p:cNvGraphicFramePr>
            <a:graphicFrameLocks noGrp="1"/>
          </p:cNvGraphicFramePr>
          <p:nvPr>
            <p:ph sz="half" idx="2"/>
            <p:extLst>
              <p:ext uri="{D42A27DB-BD31-4B8C-83A1-F6EECF244321}">
                <p14:modId xmlns:p14="http://schemas.microsoft.com/office/powerpoint/2010/main" val="1127194293"/>
              </p:ext>
            </p:extLst>
          </p:nvPr>
        </p:nvGraphicFramePr>
        <p:xfrm>
          <a:off x="4648200" y="1600200"/>
          <a:ext cx="4038600" cy="4525963"/>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p:cNvSpPr txBox="1"/>
          <p:nvPr/>
        </p:nvSpPr>
        <p:spPr>
          <a:xfrm>
            <a:off x="4572000" y="6141185"/>
            <a:ext cx="4299155" cy="577081"/>
          </a:xfrm>
          <a:prstGeom prst="rect">
            <a:avLst/>
          </a:prstGeom>
          <a:noFill/>
        </p:spPr>
        <p:txBody>
          <a:bodyPr wrap="square" rtlCol="0">
            <a:spAutoFit/>
          </a:bodyPr>
          <a:lstStyle/>
          <a:p>
            <a:pPr algn="ctr"/>
            <a:r>
              <a:rPr lang="en-US" sz="1050" b="1" dirty="0"/>
              <a:t>The campaign is expected to achieve a realistic conversion rate of 3–4%, which aligns with digital marketing benchmarks for FMCG and beverage brands. Performance tracking will help optimize future campaigns.</a:t>
            </a:r>
          </a:p>
        </p:txBody>
      </p:sp>
    </p:spTree>
    <p:extLst>
      <p:ext uri="{BB962C8B-B14F-4D97-AF65-F5344CB8AC3E}">
        <p14:creationId xmlns:p14="http://schemas.microsoft.com/office/powerpoint/2010/main" val="41139635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b="1" i="1" dirty="0">
                <a:solidFill>
                  <a:schemeClr val="accent1">
                    <a:lumMod val="75000"/>
                  </a:schemeClr>
                </a:solidFill>
                <a:latin typeface="Times New Roman" panose="02020603050405020304" pitchFamily="18" charset="0"/>
                <a:cs typeface="Times New Roman" panose="02020603050405020304" pitchFamily="18" charset="0"/>
              </a:rPr>
              <a:t>CONCLUSION</a:t>
            </a:r>
          </a:p>
        </p:txBody>
      </p:sp>
      <p:sp>
        <p:nvSpPr>
          <p:cNvPr id="6" name="Content Placeholder 5"/>
          <p:cNvSpPr>
            <a:spLocks noGrp="1"/>
          </p:cNvSpPr>
          <p:nvPr>
            <p:ph idx="1"/>
          </p:nvPr>
        </p:nvSpPr>
        <p:spPr/>
        <p:txBody>
          <a:bodyPr>
            <a:normAutofit/>
          </a:bodyPr>
          <a:lstStyle/>
          <a:p>
            <a:r>
              <a:rPr lang="en-US" sz="2600" b="1" dirty="0"/>
              <a:t>This digital marketing campaign for </a:t>
            </a:r>
            <a:r>
              <a:rPr lang="en-US" sz="2600" b="1" dirty="0" err="1"/>
              <a:t>EnerPrime</a:t>
            </a:r>
            <a:r>
              <a:rPr lang="en-US" sz="2600" b="1" dirty="0"/>
              <a:t> is designed to achieve sustainable growth through social media engagement, influencer credibility, and data-driven advertising strategies. By focusing on authentic content and performance tracking, the campaign ensures measurable and scalable results.</a:t>
            </a:r>
          </a:p>
          <a:p>
            <a:r>
              <a:rPr lang="en-US" sz="2600" b="1" dirty="0"/>
              <a:t>The strategy positions </a:t>
            </a:r>
            <a:r>
              <a:rPr lang="en-US" sz="2600" b="1" dirty="0" err="1"/>
              <a:t>EnerPrime</a:t>
            </a:r>
            <a:r>
              <a:rPr lang="en-US" sz="2600" b="1" dirty="0"/>
              <a:t> as a strong competitor in the health-focused energy drink market.</a:t>
            </a:r>
          </a:p>
          <a:p>
            <a:endParaRPr lang="en-US" dirty="0">
              <a:noFill/>
            </a:endParaRP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1463" y="5105400"/>
            <a:ext cx="4071938" cy="1587500"/>
          </a:xfrm>
          <a:prstGeom prst="rect">
            <a:avLst/>
          </a:prstGeom>
        </p:spPr>
      </p:pic>
      <p:sp>
        <p:nvSpPr>
          <p:cNvPr id="8" name="TextBox 7"/>
          <p:cNvSpPr txBox="1"/>
          <p:nvPr/>
        </p:nvSpPr>
        <p:spPr>
          <a:xfrm>
            <a:off x="6807200" y="5105400"/>
            <a:ext cx="292100" cy="1587500"/>
          </a:xfrm>
          <a:prstGeom prst="rect">
            <a:avLst/>
          </a:prstGeom>
          <a:solidFill>
            <a:schemeClr val="bg1"/>
          </a:solidFill>
        </p:spPr>
        <p:txBody>
          <a:bodyPr wrap="square" rtlCol="0">
            <a:spAutoFit/>
          </a:bodyPr>
          <a:lstStyle/>
          <a:p>
            <a:endParaRPr lang="en-US" dirty="0"/>
          </a:p>
        </p:txBody>
      </p:sp>
      <p:sp>
        <p:nvSpPr>
          <p:cNvPr id="9" name="TextBox 8"/>
          <p:cNvSpPr txBox="1"/>
          <p:nvPr/>
        </p:nvSpPr>
        <p:spPr>
          <a:xfrm>
            <a:off x="2736850" y="5041900"/>
            <a:ext cx="158750" cy="1739900"/>
          </a:xfrm>
          <a:prstGeom prst="rect">
            <a:avLst/>
          </a:prstGeom>
          <a:solidFill>
            <a:schemeClr val="bg1"/>
          </a:solidFill>
        </p:spPr>
        <p:txBody>
          <a:bodyPr wrap="square" rtlCol="0">
            <a:spAutoFit/>
          </a:bodyPr>
          <a:lstStyle/>
          <a:p>
            <a:endParaRPr lang="en-US" dirty="0"/>
          </a:p>
        </p:txBody>
      </p:sp>
    </p:spTree>
    <p:extLst>
      <p:ext uri="{BB962C8B-B14F-4D97-AF65-F5344CB8AC3E}">
        <p14:creationId xmlns:p14="http://schemas.microsoft.com/office/powerpoint/2010/main" val="71652864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294</TotalTime>
  <Words>908</Words>
  <Application>Microsoft Office PowerPoint</Application>
  <PresentationFormat>On-screen Show (4:3)</PresentationFormat>
  <Paragraphs>40</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PRODUCT &amp; CAMPAIGN OVERVIEW</vt:lpstr>
      <vt:lpstr>TARGET AUDIENCE ANALYSIS</vt:lpstr>
      <vt:lpstr>MARKETING OBJECTIVES</vt:lpstr>
      <vt:lpstr>SOCIAL MEDIA STRATEGY</vt:lpstr>
      <vt:lpstr>ADVERTISING STRATEGY &amp; BUDGET</vt:lpstr>
      <vt:lpstr>CONTENT PROMOTION &amp; INFLUENCER MARKETING</vt:lpstr>
      <vt:lpstr>EXPECTED OUTCOMES &amp; PERFORMANCE METRICS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Marketing Campaign Design for EnerPrime Natural Energy Drink</dc:title>
  <dc:subject/>
  <dc:creator>Yehia Alaa Trad</dc:creator>
  <cp:keywords/>
  <dc:description>generated using python-pptx</dc:description>
  <cp:lastModifiedBy>Maher</cp:lastModifiedBy>
  <cp:revision>23</cp:revision>
  <dcterms:created xsi:type="dcterms:W3CDTF">2013-01-27T09:14:16Z</dcterms:created>
  <dcterms:modified xsi:type="dcterms:W3CDTF">2025-12-17T19:51:41Z</dcterms:modified>
  <cp:category/>
</cp:coreProperties>
</file>